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0611"/>
          </a:solidFill>
          <a:ln>
            <a:solidFill>
              <a:srgbClr val="030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822960"/>
            <a:ext cx="10362895" cy="5212080"/>
          </a:xfrm>
          <a:prstGeom prst="roundRect">
            <a:avLst/>
          </a:prstGeom>
          <a:solidFill>
            <a:srgbClr val="0A1024"/>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097280"/>
            <a:ext cx="9448495" cy="365760"/>
          </a:xfrm>
          <a:prstGeom prst="rect">
            <a:avLst/>
          </a:prstGeom>
          <a:noFill/>
        </p:spPr>
        <p:txBody>
          <a:bodyPr wrap="none">
            <a:spAutoFit/>
          </a:bodyPr>
          <a:lstStyle/>
          <a:p>
            <a:pPr algn="ctr">
              <a:defRPr sz="1100" b="1">
                <a:solidFill>
                  <a:srgbClr val="F472B6"/>
                </a:solidFill>
              </a:defRPr>
            </a:pPr>
            <a:r>
              <a:t>🏛️ HACKSHIFT HACKATHON  •  IIIT DELHI   |   24-HOUR HACKATHON PROJECT</a:t>
            </a:r>
          </a:p>
        </p:txBody>
      </p:sp>
      <p:sp>
        <p:nvSpPr>
          <p:cNvPr id="5" name="TextBox 4"/>
          <p:cNvSpPr txBox="1"/>
          <p:nvPr/>
        </p:nvSpPr>
        <p:spPr>
          <a:xfrm>
            <a:off x="1371600" y="1463040"/>
            <a:ext cx="9448495" cy="320040"/>
          </a:xfrm>
          <a:prstGeom prst="rect">
            <a:avLst/>
          </a:prstGeom>
          <a:noFill/>
        </p:spPr>
        <p:txBody>
          <a:bodyPr wrap="none">
            <a:spAutoFit/>
          </a:bodyPr>
          <a:lstStyle/>
          <a:p>
            <a:pPr algn="ctr">
              <a:defRPr sz="950" b="1">
                <a:solidFill>
                  <a:srgbClr val="38BDF8"/>
                </a:solidFill>
              </a:defRPr>
            </a:pPr>
            <a:r>
              <a:t>TRACK 1: ALUMNI NETWORK &amp; AI-POWERED MENTORSHIP MATCHING</a:t>
            </a:r>
          </a:p>
        </p:txBody>
      </p:sp>
      <p:sp>
        <p:nvSpPr>
          <p:cNvPr id="6" name="TextBox 5"/>
          <p:cNvSpPr txBox="1"/>
          <p:nvPr/>
        </p:nvSpPr>
        <p:spPr>
          <a:xfrm>
            <a:off x="1371600" y="1828800"/>
            <a:ext cx="9448495" cy="1280160"/>
          </a:xfrm>
          <a:prstGeom prst="rect">
            <a:avLst/>
          </a:prstGeom>
          <a:noFill/>
        </p:spPr>
        <p:txBody>
          <a:bodyPr wrap="none">
            <a:spAutoFit/>
          </a:bodyPr>
          <a:lstStyle/>
          <a:p>
            <a:pPr algn="ctr"/>
            <a:r>
              <a:rPr sz="6400" b="1">
                <a:solidFill>
                  <a:srgbClr val="F8FAFC"/>
                </a:solidFill>
              </a:rPr>
              <a:t>Link</a:t>
            </a:r>
            <a:r>
              <a:rPr sz="7200" b="1" i="1">
                <a:solidFill>
                  <a:srgbClr val="38BDF8"/>
                </a:solidFill>
              </a:rPr>
              <a:t>X</a:t>
            </a:r>
          </a:p>
        </p:txBody>
      </p:sp>
      <p:sp>
        <p:nvSpPr>
          <p:cNvPr id="7" name="TextBox 6"/>
          <p:cNvSpPr txBox="1"/>
          <p:nvPr/>
        </p:nvSpPr>
        <p:spPr>
          <a:xfrm>
            <a:off x="1371600" y="3108960"/>
            <a:ext cx="9448495" cy="822960"/>
          </a:xfrm>
          <a:prstGeom prst="rect">
            <a:avLst/>
          </a:prstGeom>
          <a:noFill/>
        </p:spPr>
        <p:txBody>
          <a:bodyPr wrap="none">
            <a:spAutoFit/>
          </a:bodyPr>
          <a:lstStyle/>
          <a:p>
            <a:pPr algn="ctr">
              <a:defRPr sz="1800" b="1">
                <a:solidFill>
                  <a:srgbClr val="C084FC"/>
                </a:solidFill>
              </a:defRPr>
            </a:pPr>
            <a:r>
              <a:t>“BUILDING A LIVING NETWORK, NOT A DEAD DIRECTORY.”</a:t>
            </a:r>
          </a:p>
          <a:p>
            <a:pPr algn="ctr">
              <a:defRPr sz="1200">
                <a:solidFill>
                  <a:srgbClr val="94A3B8"/>
                </a:solidFill>
              </a:defRPr>
            </a:pPr>
            <a:r>
              <a:t>Not just who you know, but who can help you grow — through verified Proof-of-Work &amp; 1-Click Referrals.</a:t>
            </a:r>
          </a:p>
        </p:txBody>
      </p:sp>
      <p:sp>
        <p:nvSpPr>
          <p:cNvPr id="8" name="TextBox 7"/>
          <p:cNvSpPr txBox="1"/>
          <p:nvPr/>
        </p:nvSpPr>
        <p:spPr>
          <a:xfrm>
            <a:off x="1371600" y="4297680"/>
            <a:ext cx="9448495" cy="1097280"/>
          </a:xfrm>
          <a:prstGeom prst="rect">
            <a:avLst/>
          </a:prstGeom>
          <a:noFill/>
        </p:spPr>
        <p:txBody>
          <a:bodyPr wrap="none">
            <a:spAutoFit/>
          </a:bodyPr>
          <a:lstStyle/>
          <a:p>
            <a:pPr algn="ctr">
              <a:defRPr sz="1000" b="1">
                <a:solidFill>
                  <a:srgbClr val="F8FAFC"/>
                </a:solidFill>
              </a:defRPr>
            </a:pPr>
            <a:r>
              <a:t>PROJECT TEAM MEMBERS:</a:t>
            </a:r>
          </a:p>
          <a:p>
            <a:pPr algn="ctr">
              <a:defRPr sz="1400" b="1">
                <a:solidFill>
                  <a:srgbClr val="F472B6"/>
                </a:solidFill>
              </a:defRPr>
            </a:pPr>
            <a:r>
              <a:t>[ Dhani Varshney   •   Dipika Mourya   •   Ansh Kumar   •   Harsh Pal ]</a:t>
            </a:r>
          </a:p>
          <a:p>
            <a:pPr algn="ctr">
              <a:defRPr sz="1000">
                <a:solidFill>
                  <a:srgbClr val="94A3B8"/>
                </a:solidFill>
              </a:defRPr>
            </a:pPr>
            <a:r>
              <a:t>🧠 AI / AST Code Intelligence   |   ⚡ Full Stack Node.js &amp; Modern Web Architecture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0611"/>
          </a:solidFill>
          <a:ln>
            <a:solidFill>
              <a:srgbClr val="030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none">
            <a:spAutoFit/>
          </a:bodyPr>
          <a:lstStyle/>
          <a:p>
            <a:pPr>
              <a:defRPr sz="1000" b="1">
                <a:solidFill>
                  <a:srgbClr val="F472B6"/>
                </a:solidFill>
              </a:defRPr>
            </a:pPr>
            <a:r>
              <a:t>THE CHALLENGE   •   02 / 07</a:t>
            </a:r>
          </a:p>
        </p:txBody>
      </p:sp>
      <p:sp>
        <p:nvSpPr>
          <p:cNvPr id="4" name="TextBox 3"/>
          <p:cNvSpPr txBox="1"/>
          <p:nvPr/>
        </p:nvSpPr>
        <p:spPr>
          <a:xfrm>
            <a:off x="731520" y="658368"/>
            <a:ext cx="10728655" cy="594360"/>
          </a:xfrm>
          <a:prstGeom prst="rect">
            <a:avLst/>
          </a:prstGeom>
          <a:noFill/>
        </p:spPr>
        <p:txBody>
          <a:bodyPr wrap="none">
            <a:spAutoFit/>
          </a:bodyPr>
          <a:lstStyle/>
          <a:p>
            <a:pPr>
              <a:defRPr sz="2200" b="1">
                <a:solidFill>
                  <a:srgbClr val="F8FAFC"/>
                </a:solidFill>
              </a:defRPr>
            </a:pPr>
            <a:r>
              <a:t>Finding the right mentor takes more than a dead directory.</a:t>
            </a:r>
          </a:p>
        </p:txBody>
      </p:sp>
      <p:sp>
        <p:nvSpPr>
          <p:cNvPr id="5" name="TextBox 4"/>
          <p:cNvSpPr txBox="1"/>
          <p:nvPr/>
        </p:nvSpPr>
        <p:spPr>
          <a:xfrm>
            <a:off x="731520" y="1234440"/>
            <a:ext cx="10728655" cy="411480"/>
          </a:xfrm>
          <a:prstGeom prst="rect">
            <a:avLst/>
          </a:prstGeom>
          <a:noFill/>
        </p:spPr>
        <p:txBody>
          <a:bodyPr wrap="none">
            <a:spAutoFit/>
          </a:bodyPr>
          <a:lstStyle/>
          <a:p>
            <a:pPr>
              <a:defRPr sz="1150">
                <a:solidFill>
                  <a:srgbClr val="94A3B8"/>
                </a:solidFill>
              </a:defRPr>
            </a:pPr>
            <a:r>
              <a:t>Traditional alumni portals with 10,000+ names fail because they lack relevance, mutual intent, and proof.</a:t>
            </a:r>
          </a:p>
        </p:txBody>
      </p:sp>
      <p:sp>
        <p:nvSpPr>
          <p:cNvPr id="6" name="Rounded Rectangle 5"/>
          <p:cNvSpPr/>
          <p:nvPr/>
        </p:nvSpPr>
        <p:spPr>
          <a:xfrm>
            <a:off x="731520" y="1920240"/>
            <a:ext cx="3429000" cy="4114800"/>
          </a:xfrm>
          <a:prstGeom prst="roundRect">
            <a:avLst/>
          </a:prstGeom>
          <a:solidFill>
            <a:srgbClr val="0A1024"/>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03120"/>
            <a:ext cx="3063240" cy="3749039"/>
          </a:xfrm>
          <a:prstGeom prst="rect">
            <a:avLst/>
          </a:prstGeom>
          <a:noFill/>
        </p:spPr>
        <p:txBody>
          <a:bodyPr wrap="square">
            <a:spAutoFit/>
          </a:bodyPr>
          <a:lstStyle/>
          <a:p>
            <a:pPr>
              <a:defRPr sz="2800" b="1">
                <a:solidFill>
                  <a:srgbClr val="38BDF8"/>
                </a:solidFill>
              </a:defRPr>
            </a:pPr>
            <a:r>
              <a:t>01</a:t>
            </a:r>
          </a:p>
          <a:p>
            <a:pPr>
              <a:defRPr sz="1500" b="1">
                <a:solidFill>
                  <a:srgbClr val="F8FAFC"/>
                </a:solidFill>
              </a:defRPr>
            </a:pPr>
            <a:r>
              <a:t>The Relevance &amp; Conviction Gap</a:t>
            </a:r>
          </a:p>
          <a:p>
            <a:br/>
            <a:pPr>
              <a:defRPr sz="1150">
                <a:solidFill>
                  <a:srgbClr val="94A3B8"/>
                </a:solidFill>
              </a:defRPr>
            </a:pPr>
            <a:r>
              <a:t>A broad list of alumni names rarely makes it obvious who is actively open to mentoring, hiring, or referring. Students don't know who has the intent to help, resulting in arbitrary outreach.</a:t>
            </a:r>
          </a:p>
        </p:txBody>
      </p:sp>
      <p:sp>
        <p:nvSpPr>
          <p:cNvPr id="8" name="Rounded Rectangle 7"/>
          <p:cNvSpPr/>
          <p:nvPr/>
        </p:nvSpPr>
        <p:spPr>
          <a:xfrm>
            <a:off x="4343400" y="1920240"/>
            <a:ext cx="3429000" cy="4114800"/>
          </a:xfrm>
          <a:prstGeom prst="roundRect">
            <a:avLst/>
          </a:prstGeom>
          <a:solidFill>
            <a:srgbClr val="0A1024"/>
          </a:solidFill>
          <a:ln w="1524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2103120"/>
            <a:ext cx="3063240" cy="3749039"/>
          </a:xfrm>
          <a:prstGeom prst="rect">
            <a:avLst/>
          </a:prstGeom>
          <a:noFill/>
        </p:spPr>
        <p:txBody>
          <a:bodyPr wrap="square">
            <a:spAutoFit/>
          </a:bodyPr>
          <a:lstStyle/>
          <a:p>
            <a:pPr>
              <a:defRPr sz="2800" b="1">
                <a:solidFill>
                  <a:srgbClr val="C084FC"/>
                </a:solidFill>
              </a:defRPr>
            </a:pPr>
            <a:r>
              <a:t>02</a:t>
            </a:r>
          </a:p>
          <a:p>
            <a:pPr>
              <a:defRPr sz="1500" b="1">
                <a:solidFill>
                  <a:srgbClr val="F8FAFC"/>
                </a:solidFill>
              </a:defRPr>
            </a:pPr>
            <a:r>
              <a:t>Time-Consuming Manual Search</a:t>
            </a:r>
          </a:p>
          <a:p>
            <a:br/>
            <a:pPr>
              <a:defRPr sz="1150">
                <a:solidFill>
                  <a:srgbClr val="94A3B8"/>
                </a:solidFill>
              </a:defRPr>
            </a:pPr>
            <a:r>
              <a:t>Students spend hours browsing hundreds of stale LinkedIn profiles, comparing roles and companies manually without knowing whether the alumnus actually works in their target stack.</a:t>
            </a:r>
          </a:p>
        </p:txBody>
      </p:sp>
      <p:sp>
        <p:nvSpPr>
          <p:cNvPr id="10" name="Rounded Rectangle 9"/>
          <p:cNvSpPr/>
          <p:nvPr/>
        </p:nvSpPr>
        <p:spPr>
          <a:xfrm>
            <a:off x="7955280" y="1920240"/>
            <a:ext cx="3429000" cy="4114800"/>
          </a:xfrm>
          <a:prstGeom prst="roundRect">
            <a:avLst/>
          </a:prstGeom>
          <a:solidFill>
            <a:srgbClr val="0A1024"/>
          </a:solidFill>
          <a:ln w="15240">
            <a:solidFill>
              <a:srgbClr val="F47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2103120"/>
            <a:ext cx="3063240" cy="3749039"/>
          </a:xfrm>
          <a:prstGeom prst="rect">
            <a:avLst/>
          </a:prstGeom>
          <a:noFill/>
        </p:spPr>
        <p:txBody>
          <a:bodyPr wrap="square">
            <a:spAutoFit/>
          </a:bodyPr>
          <a:lstStyle/>
          <a:p>
            <a:pPr>
              <a:defRPr sz="2800" b="1">
                <a:solidFill>
                  <a:srgbClr val="F472B6"/>
                </a:solidFill>
              </a:defRPr>
            </a:pPr>
            <a:r>
              <a:t>03</a:t>
            </a:r>
          </a:p>
          <a:p>
            <a:pPr>
              <a:defRPr sz="1500" b="1">
                <a:solidFill>
                  <a:srgbClr val="F8FAFC"/>
                </a:solidFill>
              </a:defRPr>
            </a:pPr>
            <a:r>
              <a:t>Outreach Hesitation &amp; Cold-DM Spam</a:t>
            </a:r>
          </a:p>
          <a:p>
            <a:br/>
            <a:pPr>
              <a:defRPr sz="1150">
                <a:solidFill>
                  <a:srgbClr val="94A3B8"/>
                </a:solidFill>
              </a:defRPr>
            </a:pPr>
            <a:r>
              <a:t>Students are unsure how to start a thoughtful message and default to generic begging ('Sir please refer me'). Busy engineers at Google/Swiggy ignore 98% of cold DMs and close their inboxes.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0611"/>
          </a:solidFill>
          <a:ln>
            <a:solidFill>
              <a:srgbClr val="030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none">
            <a:spAutoFit/>
          </a:bodyPr>
          <a:lstStyle/>
          <a:p>
            <a:pPr>
              <a:defRPr sz="1000" b="1">
                <a:solidFill>
                  <a:srgbClr val="F472B6"/>
                </a:solidFill>
              </a:defRPr>
            </a:pPr>
            <a:r>
              <a:t>SMART WORKFLOW   •   03 / 07</a:t>
            </a:r>
          </a:p>
        </p:txBody>
      </p:sp>
      <p:sp>
        <p:nvSpPr>
          <p:cNvPr id="4" name="TextBox 3"/>
          <p:cNvSpPr txBox="1"/>
          <p:nvPr/>
        </p:nvSpPr>
        <p:spPr>
          <a:xfrm>
            <a:off x="731520" y="658368"/>
            <a:ext cx="10728655" cy="594360"/>
          </a:xfrm>
          <a:prstGeom prst="rect">
            <a:avLst/>
          </a:prstGeom>
          <a:noFill/>
        </p:spPr>
        <p:txBody>
          <a:bodyPr wrap="none">
            <a:spAutoFit/>
          </a:bodyPr>
          <a:lstStyle/>
          <a:p>
            <a:pPr>
              <a:defRPr sz="2200" b="1">
                <a:solidFill>
                  <a:srgbClr val="F8FAFC"/>
                </a:solidFill>
              </a:defRPr>
            </a:pPr>
            <a:r>
              <a:t>Our Solution: LinkX Reciprocity Pipeline</a:t>
            </a:r>
          </a:p>
        </p:txBody>
      </p:sp>
      <p:sp>
        <p:nvSpPr>
          <p:cNvPr id="5" name="TextBox 4"/>
          <p:cNvSpPr txBox="1"/>
          <p:nvPr/>
        </p:nvSpPr>
        <p:spPr>
          <a:xfrm>
            <a:off x="731520" y="1234440"/>
            <a:ext cx="10728655" cy="411480"/>
          </a:xfrm>
          <a:prstGeom prst="rect">
            <a:avLst/>
          </a:prstGeom>
          <a:noFill/>
        </p:spPr>
        <p:txBody>
          <a:bodyPr wrap="none">
            <a:spAutoFit/>
          </a:bodyPr>
          <a:lstStyle/>
          <a:p>
            <a:pPr>
              <a:defRPr sz="1150">
                <a:solidFill>
                  <a:srgbClr val="94A3B8"/>
                </a:solidFill>
              </a:defRPr>
            </a:pPr>
            <a:r>
              <a:t>From natural-language career goals to verified proof-of-work and 1-click ATS referrals.</a:t>
            </a:r>
          </a:p>
        </p:txBody>
      </p:sp>
      <p:sp>
        <p:nvSpPr>
          <p:cNvPr id="6" name="Rounded Rectangle 5"/>
          <p:cNvSpPr/>
          <p:nvPr/>
        </p:nvSpPr>
        <p:spPr>
          <a:xfrm>
            <a:off x="731520" y="1874519"/>
            <a:ext cx="2542032" cy="2286000"/>
          </a:xfrm>
          <a:prstGeom prst="roundRect">
            <a:avLst/>
          </a:prstGeom>
          <a:solidFill>
            <a:srgbClr val="0A1024"/>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65960"/>
            <a:ext cx="2267712" cy="2103120"/>
          </a:xfrm>
          <a:prstGeom prst="rect">
            <a:avLst/>
          </a:prstGeom>
          <a:noFill/>
        </p:spPr>
        <p:txBody>
          <a:bodyPr wrap="square">
            <a:spAutoFit/>
          </a:bodyPr>
          <a:lstStyle/>
          <a:p>
            <a:pPr>
              <a:defRPr sz="1400" b="1">
                <a:solidFill>
                  <a:srgbClr val="38BDF8"/>
                </a:solidFill>
              </a:defRPr>
            </a:pPr>
            <a:r>
              <a:t>1. Understand Intent</a:t>
            </a:r>
          </a:p>
          <a:p>
            <a:br/>
            <a:pPr>
              <a:defRPr sz="1050">
                <a:solidFill>
                  <a:srgbClr val="94A3B8"/>
                </a:solidFill>
              </a:defRPr>
            </a:pPr>
            <a:r>
              <a:t>Students describe career goals in natural language or specify target engineering challenges (not just keyword search).</a:t>
            </a:r>
          </a:p>
        </p:txBody>
      </p:sp>
      <p:sp>
        <p:nvSpPr>
          <p:cNvPr id="8" name="Rounded Rectangle 7"/>
          <p:cNvSpPr/>
          <p:nvPr/>
        </p:nvSpPr>
        <p:spPr>
          <a:xfrm>
            <a:off x="3429000" y="1874519"/>
            <a:ext cx="2542032" cy="2286000"/>
          </a:xfrm>
          <a:prstGeom prst="roundRect">
            <a:avLst/>
          </a:prstGeom>
          <a:solidFill>
            <a:srgbClr val="0A1024"/>
          </a:solidFill>
          <a:ln w="1270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1965960"/>
            <a:ext cx="2267712" cy="2103120"/>
          </a:xfrm>
          <a:prstGeom prst="rect">
            <a:avLst/>
          </a:prstGeom>
          <a:noFill/>
        </p:spPr>
        <p:txBody>
          <a:bodyPr wrap="square">
            <a:spAutoFit/>
          </a:bodyPr>
          <a:lstStyle/>
          <a:p>
            <a:pPr>
              <a:defRPr sz="1400" b="1">
                <a:solidFill>
                  <a:srgbClr val="C084FC"/>
                </a:solidFill>
              </a:defRPr>
            </a:pPr>
            <a:r>
              <a:t>2. Semantic Matching</a:t>
            </a:r>
          </a:p>
          <a:p>
            <a:br/>
            <a:pPr>
              <a:defRPr sz="1050">
                <a:solidFill>
                  <a:srgbClr val="94A3B8"/>
                </a:solidFill>
              </a:defRPr>
            </a:pPr>
            <a:r>
              <a:t>Compares intent with alumni expertise, company hiring slots, target stack, and past mentoring track record.</a:t>
            </a:r>
          </a:p>
        </p:txBody>
      </p:sp>
      <p:sp>
        <p:nvSpPr>
          <p:cNvPr id="10" name="Rounded Rectangle 9"/>
          <p:cNvSpPr/>
          <p:nvPr/>
        </p:nvSpPr>
        <p:spPr>
          <a:xfrm>
            <a:off x="6126480" y="1874519"/>
            <a:ext cx="2542032" cy="2286000"/>
          </a:xfrm>
          <a:prstGeom prst="roundRect">
            <a:avLst/>
          </a:prstGeom>
          <a:solidFill>
            <a:srgbClr val="0A1024"/>
          </a:solidFill>
          <a:ln w="12700">
            <a:solidFill>
              <a:srgbClr val="F47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1965960"/>
            <a:ext cx="2267712" cy="2103120"/>
          </a:xfrm>
          <a:prstGeom prst="rect">
            <a:avLst/>
          </a:prstGeom>
          <a:noFill/>
        </p:spPr>
        <p:txBody>
          <a:bodyPr wrap="square">
            <a:spAutoFit/>
          </a:bodyPr>
          <a:lstStyle/>
          <a:p>
            <a:pPr>
              <a:defRPr sz="1400" b="1">
                <a:solidFill>
                  <a:srgbClr val="F472B6"/>
                </a:solidFill>
              </a:defRPr>
            </a:pPr>
            <a:r>
              <a:t>3. AST Proof-of-Work</a:t>
            </a:r>
          </a:p>
          <a:p>
            <a:br/>
            <a:pPr>
              <a:defRPr sz="1050">
                <a:solidFill>
                  <a:srgbClr val="94A3B8"/>
                </a:solidFill>
              </a:defRPr>
            </a:pPr>
            <a:r>
              <a:t>Student attaches GitHub repo/PR. Engine verifies Code Readiness (94/100), Unit Tests (92%), and P99 Latency (14ms).</a:t>
            </a:r>
          </a:p>
        </p:txBody>
      </p:sp>
      <p:sp>
        <p:nvSpPr>
          <p:cNvPr id="12" name="Rounded Rectangle 11"/>
          <p:cNvSpPr/>
          <p:nvPr/>
        </p:nvSpPr>
        <p:spPr>
          <a:xfrm>
            <a:off x="8823960" y="1874519"/>
            <a:ext cx="2542032" cy="2286000"/>
          </a:xfrm>
          <a:prstGeom prst="roundRect">
            <a:avLst/>
          </a:prstGeom>
          <a:solidFill>
            <a:srgbClr val="0A102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0" y="1965960"/>
            <a:ext cx="2267712" cy="2103120"/>
          </a:xfrm>
          <a:prstGeom prst="rect">
            <a:avLst/>
          </a:prstGeom>
          <a:noFill/>
        </p:spPr>
        <p:txBody>
          <a:bodyPr wrap="square">
            <a:spAutoFit/>
          </a:bodyPr>
          <a:lstStyle/>
          <a:p>
            <a:pPr>
              <a:defRPr sz="1400" b="1">
                <a:solidFill>
                  <a:srgbClr val="34D399"/>
                </a:solidFill>
              </a:defRPr>
            </a:pPr>
            <a:r>
              <a:t>4. 1-Minute Dossier</a:t>
            </a:r>
          </a:p>
          <a:p>
            <a:br/>
            <a:pPr>
              <a:defRPr sz="1050">
                <a:solidFill>
                  <a:srgbClr val="94A3B8"/>
                </a:solidFill>
              </a:defRPr>
            </a:pPr>
            <a:r>
              <a:t>AI packages a 60-second executive card. Alumnus approves with 1-Click to corporate ATS or gives 2-line code feedback.</a:t>
            </a:r>
          </a:p>
        </p:txBody>
      </p:sp>
      <p:sp>
        <p:nvSpPr>
          <p:cNvPr id="14" name="Rounded Rectangle 13"/>
          <p:cNvSpPr/>
          <p:nvPr/>
        </p:nvSpPr>
        <p:spPr>
          <a:xfrm>
            <a:off x="731520" y="4389120"/>
            <a:ext cx="10728655" cy="1828800"/>
          </a:xfrm>
          <a:prstGeom prst="roundRect">
            <a:avLst/>
          </a:prstGeom>
          <a:solidFill>
            <a:srgbClr val="101A36"/>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80560"/>
            <a:ext cx="10362895" cy="1645920"/>
          </a:xfrm>
          <a:prstGeom prst="rect">
            <a:avLst/>
          </a:prstGeom>
          <a:noFill/>
        </p:spPr>
        <p:txBody>
          <a:bodyPr wrap="square">
            <a:spAutoFit/>
          </a:bodyPr>
          <a:lstStyle/>
          <a:p>
            <a:pPr>
              <a:defRPr sz="1000" b="1">
                <a:solidFill>
                  <a:srgbClr val="F472B6"/>
                </a:solidFill>
              </a:defRPr>
            </a:pPr>
            <a:r>
              <a:t>ILLUSTRATIVE VERIFIED WORKFLOW IN LINKX:</a:t>
            </a:r>
          </a:p>
          <a:p>
            <a:r>
              <a:rPr b="1">
                <a:solidFill>
                  <a:srgbClr val="F8FAFC"/>
                </a:solidFill>
              </a:rPr>
              <a:t>Student Goal: </a:t>
            </a:r>
            <a:r>
              <a:rPr>
                <a:solidFill>
                  <a:srgbClr val="38BDF8"/>
                </a:solidFill>
              </a:rPr>
              <a:t>'Backend Distributed Systems internship at Swiggy'  →  </a:t>
            </a:r>
            <a:r>
              <a:rPr b="1">
                <a:solidFill>
                  <a:srgbClr val="F8FAFC"/>
                </a:solidFill>
              </a:rPr>
              <a:t>Proof Attached: </a:t>
            </a:r>
            <a:r>
              <a:rPr>
                <a:solidFill>
                  <a:srgbClr val="C084FC"/>
                </a:solidFill>
              </a:rPr>
              <a:t>Consistent Hashing Ring in Go (94/100 Readiness)  →  </a:t>
            </a:r>
            <a:r>
              <a:rPr b="1">
                <a:solidFill>
                  <a:srgbClr val="F8FAFC"/>
                </a:solidFill>
              </a:rPr>
              <a:t>Outcome: </a:t>
            </a:r>
            <a:r>
              <a:rPr>
                <a:solidFill>
                  <a:srgbClr val="34D399"/>
                </a:solidFill>
              </a:rPr>
              <a:t>Rohan Verma (Senior SDE @ Swiggy) triggers 1-Click ATS Referral!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0611"/>
          </a:solidFill>
          <a:ln>
            <a:solidFill>
              <a:srgbClr val="030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none">
            <a:spAutoFit/>
          </a:bodyPr>
          <a:lstStyle/>
          <a:p>
            <a:pPr>
              <a:defRPr sz="1000" b="1">
                <a:solidFill>
                  <a:srgbClr val="F472B6"/>
                </a:solidFill>
              </a:defRPr>
            </a:pPr>
            <a:r>
              <a:t>CAPABILITIES   •   04 / 07</a:t>
            </a:r>
          </a:p>
        </p:txBody>
      </p:sp>
      <p:sp>
        <p:nvSpPr>
          <p:cNvPr id="4" name="TextBox 3"/>
          <p:cNvSpPr txBox="1"/>
          <p:nvPr/>
        </p:nvSpPr>
        <p:spPr>
          <a:xfrm>
            <a:off x="731520" y="658368"/>
            <a:ext cx="10728655" cy="594360"/>
          </a:xfrm>
          <a:prstGeom prst="rect">
            <a:avLst/>
          </a:prstGeom>
          <a:noFill/>
        </p:spPr>
        <p:txBody>
          <a:bodyPr wrap="none">
            <a:spAutoFit/>
          </a:bodyPr>
          <a:lstStyle/>
          <a:p>
            <a:pPr>
              <a:defRPr sz="2200" b="1">
                <a:solidFill>
                  <a:srgbClr val="F8FAFC"/>
                </a:solidFill>
              </a:defRPr>
            </a:pPr>
            <a:r>
              <a:t>Key Features &amp; Differentiators</a:t>
            </a:r>
          </a:p>
        </p:txBody>
      </p:sp>
      <p:sp>
        <p:nvSpPr>
          <p:cNvPr id="5" name="TextBox 4"/>
          <p:cNvSpPr txBox="1"/>
          <p:nvPr/>
        </p:nvSpPr>
        <p:spPr>
          <a:xfrm>
            <a:off x="731520" y="1234440"/>
            <a:ext cx="10728655" cy="411480"/>
          </a:xfrm>
          <a:prstGeom prst="rect">
            <a:avLst/>
          </a:prstGeom>
          <a:noFill/>
        </p:spPr>
        <p:txBody>
          <a:bodyPr wrap="none">
            <a:spAutoFit/>
          </a:bodyPr>
          <a:lstStyle/>
          <a:p>
            <a:pPr>
              <a:defRPr sz="1150">
                <a:solidFill>
                  <a:srgbClr val="94A3B8"/>
                </a:solidFill>
              </a:defRPr>
            </a:pPr>
            <a:r>
              <a:t>A laser-focused set of capabilities engineered to turn passive connections into tangible outcomes.</a:t>
            </a:r>
          </a:p>
        </p:txBody>
      </p:sp>
      <p:sp>
        <p:nvSpPr>
          <p:cNvPr id="6" name="Rounded Rectangle 5"/>
          <p:cNvSpPr/>
          <p:nvPr/>
        </p:nvSpPr>
        <p:spPr>
          <a:xfrm>
            <a:off x="731520" y="1920240"/>
            <a:ext cx="5257800" cy="1965960"/>
          </a:xfrm>
          <a:prstGeom prst="roundRect">
            <a:avLst/>
          </a:prstGeom>
          <a:solidFill>
            <a:srgbClr val="0A1024"/>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03120"/>
            <a:ext cx="4892040" cy="1600200"/>
          </a:xfrm>
          <a:prstGeom prst="rect">
            <a:avLst/>
          </a:prstGeom>
          <a:noFill/>
        </p:spPr>
        <p:txBody>
          <a:bodyPr wrap="square">
            <a:spAutoFit/>
          </a:bodyPr>
          <a:lstStyle/>
          <a:p>
            <a:pPr>
              <a:defRPr sz="1500" b="1">
                <a:solidFill>
                  <a:srgbClr val="38BDF8"/>
                </a:solidFill>
              </a:defRPr>
            </a:pPr>
            <a:r>
              <a:t>Anti-Cold-DM Pitch Lab</a:t>
            </a:r>
          </a:p>
          <a:p>
            <a:br/>
            <a:pPr>
              <a:defRPr sz="1150">
                <a:solidFill>
                  <a:srgbClr val="94A3B8"/>
                </a:solidFill>
              </a:defRPr>
            </a:pPr>
            <a:r>
              <a:t>Zero Raw Text Allowed. Students attach an active GitHub repo or PR; the AST engine automatically evaluates code depth, test ratios, and architectural cleanliness.</a:t>
            </a:r>
          </a:p>
        </p:txBody>
      </p:sp>
      <p:sp>
        <p:nvSpPr>
          <p:cNvPr id="8" name="Rounded Rectangle 7"/>
          <p:cNvSpPr/>
          <p:nvPr/>
        </p:nvSpPr>
        <p:spPr>
          <a:xfrm>
            <a:off x="6172200" y="1920240"/>
            <a:ext cx="5257800" cy="1965960"/>
          </a:xfrm>
          <a:prstGeom prst="roundRect">
            <a:avLst/>
          </a:prstGeom>
          <a:solidFill>
            <a:srgbClr val="0A1024"/>
          </a:solidFill>
          <a:ln w="1270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2103120"/>
            <a:ext cx="4892040" cy="1600200"/>
          </a:xfrm>
          <a:prstGeom prst="rect">
            <a:avLst/>
          </a:prstGeom>
          <a:noFill/>
        </p:spPr>
        <p:txBody>
          <a:bodyPr wrap="square">
            <a:spAutoFit/>
          </a:bodyPr>
          <a:lstStyle/>
          <a:p>
            <a:pPr>
              <a:defRPr sz="1500" b="1">
                <a:solidFill>
                  <a:srgbClr val="C084FC"/>
                </a:solidFill>
              </a:defRPr>
            </a:pPr>
            <a:r>
              <a:t>Explainable Recommendations</a:t>
            </a:r>
          </a:p>
          <a:p>
            <a:br/>
            <a:pPr>
              <a:defRPr sz="1150">
                <a:solidFill>
                  <a:srgbClr val="94A3B8"/>
                </a:solidFill>
              </a:defRPr>
            </a:pPr>
            <a:r>
              <a:t>Students and alumni see exact match rationale grounded in verified stack compatibility, shared university lineage, and specific technical blocker alignment.</a:t>
            </a:r>
          </a:p>
        </p:txBody>
      </p:sp>
      <p:sp>
        <p:nvSpPr>
          <p:cNvPr id="10" name="Rounded Rectangle 9"/>
          <p:cNvSpPr/>
          <p:nvPr/>
        </p:nvSpPr>
        <p:spPr>
          <a:xfrm>
            <a:off x="731520" y="4069080"/>
            <a:ext cx="5257800" cy="1965960"/>
          </a:xfrm>
          <a:prstGeom prst="roundRect">
            <a:avLst/>
          </a:prstGeom>
          <a:solidFill>
            <a:srgbClr val="0A1024"/>
          </a:solidFill>
          <a:ln w="12700">
            <a:solidFill>
              <a:srgbClr val="F47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51960"/>
            <a:ext cx="4892040" cy="1600200"/>
          </a:xfrm>
          <a:prstGeom prst="rect">
            <a:avLst/>
          </a:prstGeom>
          <a:noFill/>
        </p:spPr>
        <p:txBody>
          <a:bodyPr wrap="square">
            <a:spAutoFit/>
          </a:bodyPr>
          <a:lstStyle/>
          <a:p>
            <a:pPr>
              <a:defRPr sz="1500" b="1">
                <a:solidFill>
                  <a:srgbClr val="F472B6"/>
                </a:solidFill>
              </a:defRPr>
            </a:pPr>
            <a:r>
              <a:t>1-Click ATS Referral Radar</a:t>
            </a:r>
          </a:p>
          <a:p>
            <a:br/>
            <a:pPr>
              <a:defRPr sz="1150">
                <a:solidFill>
                  <a:srgbClr val="94A3B8"/>
                </a:solidFill>
              </a:defRPr>
            </a:pPr>
            <a:r>
              <a:t>Alumni make referral decisions in under 60 seconds. Pre-formatted dossiers push straight to company ATS (Workday, Lever, Greenhouse) with 0 screening friction.</a:t>
            </a:r>
          </a:p>
        </p:txBody>
      </p:sp>
      <p:sp>
        <p:nvSpPr>
          <p:cNvPr id="12" name="Rounded Rectangle 11"/>
          <p:cNvSpPr/>
          <p:nvPr/>
        </p:nvSpPr>
        <p:spPr>
          <a:xfrm>
            <a:off x="6172200" y="4069080"/>
            <a:ext cx="5257800" cy="1965960"/>
          </a:xfrm>
          <a:prstGeom prst="roundRect">
            <a:avLst/>
          </a:prstGeom>
          <a:solidFill>
            <a:srgbClr val="0A102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251960"/>
            <a:ext cx="4892040" cy="1600200"/>
          </a:xfrm>
          <a:prstGeom prst="rect">
            <a:avLst/>
          </a:prstGeom>
          <a:noFill/>
        </p:spPr>
        <p:txBody>
          <a:bodyPr wrap="square">
            <a:spAutoFit/>
          </a:bodyPr>
          <a:lstStyle/>
          <a:p>
            <a:pPr>
              <a:defRPr sz="1500" b="1">
                <a:solidFill>
                  <a:srgbClr val="34D399"/>
                </a:solidFill>
              </a:defRPr>
            </a:pPr>
            <a:r>
              <a:t>Micro-Bounties &amp; Capstones</a:t>
            </a:r>
          </a:p>
          <a:p>
            <a:br/>
            <a:pPr>
              <a:defRPr sz="1150">
                <a:solidFill>
                  <a:srgbClr val="94A3B8"/>
                </a:solidFill>
              </a:defRPr>
            </a:pPr>
            <a:r>
              <a:t>Alumni founders post ₹5k–₹25k feature tickets solved in 48 hours; faculty link academic research capstones with alumni tech leads from Google &amp; Microsoft.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0611"/>
          </a:solidFill>
          <a:ln>
            <a:solidFill>
              <a:srgbClr val="030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none">
            <a:spAutoFit/>
          </a:bodyPr>
          <a:lstStyle/>
          <a:p>
            <a:pPr>
              <a:defRPr sz="1000" b="1">
                <a:solidFill>
                  <a:srgbClr val="F472B6"/>
                </a:solidFill>
              </a:defRPr>
            </a:pPr>
            <a:r>
              <a:t>DIFFERENTIATING ADVANTAGE   •   05 / 07</a:t>
            </a:r>
          </a:p>
        </p:txBody>
      </p:sp>
      <p:sp>
        <p:nvSpPr>
          <p:cNvPr id="4" name="TextBox 3"/>
          <p:cNvSpPr txBox="1"/>
          <p:nvPr/>
        </p:nvSpPr>
        <p:spPr>
          <a:xfrm>
            <a:off x="731520" y="658368"/>
            <a:ext cx="10728655" cy="594360"/>
          </a:xfrm>
          <a:prstGeom prst="rect">
            <a:avLst/>
          </a:prstGeom>
          <a:noFill/>
        </p:spPr>
        <p:txBody>
          <a:bodyPr wrap="none">
            <a:spAutoFit/>
          </a:bodyPr>
          <a:lstStyle/>
          <a:p>
            <a:pPr>
              <a:defRPr sz="2200" b="1">
                <a:solidFill>
                  <a:srgbClr val="F8FAFC"/>
                </a:solidFill>
              </a:defRPr>
            </a:pPr>
            <a:r>
              <a:t>Traditional Directory vs. LinkX Autonomous Network</a:t>
            </a:r>
          </a:p>
        </p:txBody>
      </p:sp>
      <p:sp>
        <p:nvSpPr>
          <p:cNvPr id="5" name="TextBox 4"/>
          <p:cNvSpPr txBox="1"/>
          <p:nvPr/>
        </p:nvSpPr>
        <p:spPr>
          <a:xfrm>
            <a:off x="731520" y="1234440"/>
            <a:ext cx="10728655" cy="411480"/>
          </a:xfrm>
          <a:prstGeom prst="rect">
            <a:avLst/>
          </a:prstGeom>
          <a:noFill/>
        </p:spPr>
        <p:txBody>
          <a:bodyPr wrap="none">
            <a:spAutoFit/>
          </a:bodyPr>
          <a:lstStyle/>
          <a:p>
            <a:pPr>
              <a:defRPr sz="1150">
                <a:solidFill>
                  <a:srgbClr val="94A3B8"/>
                </a:solidFill>
              </a:defRPr>
            </a:pPr>
            <a:r>
              <a:t>Why traditional college databases fail and how LinkX guarantees high-signal engagement.</a:t>
            </a:r>
          </a:p>
        </p:txBody>
      </p:sp>
      <p:sp>
        <p:nvSpPr>
          <p:cNvPr id="6" name="Rounded Rectangle 5"/>
          <p:cNvSpPr/>
          <p:nvPr/>
        </p:nvSpPr>
        <p:spPr>
          <a:xfrm>
            <a:off x="731520" y="1920240"/>
            <a:ext cx="5257800" cy="4114800"/>
          </a:xfrm>
          <a:prstGeom prst="roundRect">
            <a:avLst/>
          </a:prstGeom>
          <a:solidFill>
            <a:srgbClr val="0A1024"/>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03120"/>
            <a:ext cx="4892040" cy="3749039"/>
          </a:xfrm>
          <a:prstGeom prst="rect">
            <a:avLst/>
          </a:prstGeom>
          <a:noFill/>
        </p:spPr>
        <p:txBody>
          <a:bodyPr wrap="square">
            <a:spAutoFit/>
          </a:bodyPr>
          <a:lstStyle/>
          <a:p>
            <a:pPr>
              <a:defRPr sz="1600" b="1">
                <a:solidFill>
                  <a:srgbClr val="F87171"/>
                </a:solidFill>
              </a:defRPr>
            </a:pPr>
            <a:r>
              <a:t>TRADITIONAL DIRECTORY SEARCH</a:t>
            </a:r>
          </a:p>
          <a:p>
            <a:pPr>
              <a:defRPr sz="1050">
                <a:solidFill>
                  <a:srgbClr val="94A3B8"/>
                </a:solidFill>
              </a:defRPr>
            </a:pPr>
            <a:r>
              <a:t>• Keyword &amp; Filter Search: Requires students to manually browse thousands of stale records.</a:t>
            </a:r>
          </a:p>
          <a:p>
            <a:pPr>
              <a:defRPr sz="1050">
                <a:solidFill>
                  <a:srgbClr val="94A3B8"/>
                </a:solidFill>
              </a:defRPr>
            </a:pPr>
            <a:r>
              <a:t>• No Active Intent Signal: Alumni profiles sit dormant; students have no clue if alumni are available.</a:t>
            </a:r>
          </a:p>
          <a:p>
            <a:pPr>
              <a:defRPr sz="1050">
                <a:solidFill>
                  <a:srgbClr val="94A3B8"/>
                </a:solidFill>
              </a:defRPr>
            </a:pPr>
            <a:r>
              <a:t>• Cold-DM Spam: 98% of cold messages ignored; alumni close inboxes due to resume fatigue.</a:t>
            </a:r>
          </a:p>
          <a:p>
            <a:pPr>
              <a:defRPr sz="1050">
                <a:solidFill>
                  <a:srgbClr val="94A3B8"/>
                </a:solidFill>
              </a:defRPr>
            </a:pPr>
            <a:r>
              <a:t>• Zero Proof-of-Work: Relies on generic self-reported resumes without code verification.</a:t>
            </a:r>
          </a:p>
          <a:p>
            <a:pPr>
              <a:defRPr sz="1050">
                <a:solidFill>
                  <a:srgbClr val="94A3B8"/>
                </a:solidFill>
              </a:defRPr>
            </a:pPr>
            <a:r>
              <a:t>• Zero Accreditation Telemetry: College administrations have zero visibility into actual hiring conversions.</a:t>
            </a:r>
          </a:p>
        </p:txBody>
      </p:sp>
      <p:sp>
        <p:nvSpPr>
          <p:cNvPr id="8" name="Rounded Rectangle 7"/>
          <p:cNvSpPr/>
          <p:nvPr/>
        </p:nvSpPr>
        <p:spPr>
          <a:xfrm>
            <a:off x="6217920" y="1920240"/>
            <a:ext cx="5257800" cy="4114800"/>
          </a:xfrm>
          <a:prstGeom prst="roundRect">
            <a:avLst/>
          </a:prstGeom>
          <a:solidFill>
            <a:srgbClr val="0A1024"/>
          </a:solidFill>
          <a:ln w="19050">
            <a:solidFill>
              <a:srgbClr val="F47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103120"/>
            <a:ext cx="4892040" cy="3749039"/>
          </a:xfrm>
          <a:prstGeom prst="rect">
            <a:avLst/>
          </a:prstGeom>
          <a:noFill/>
        </p:spPr>
        <p:txBody>
          <a:bodyPr wrap="square">
            <a:spAutoFit/>
          </a:bodyPr>
          <a:lstStyle/>
          <a:p>
            <a:pPr>
              <a:defRPr sz="1600" b="1">
                <a:solidFill>
                  <a:srgbClr val="34D399"/>
                </a:solidFill>
              </a:defRPr>
            </a:pPr>
            <a:r>
              <a:t>LINKX AUTONOMOUS RECIPROCITY</a:t>
            </a:r>
          </a:p>
          <a:p>
            <a:pPr>
              <a:defRPr sz="1050">
                <a:solidFill>
                  <a:srgbClr val="F8FAFC"/>
                </a:solidFill>
              </a:defRPr>
            </a:pPr>
            <a:r>
              <a:t>✓ Natural-Language Intent Input: Students state engineering challenges &amp; target roles directly.</a:t>
            </a:r>
          </a:p>
          <a:p>
            <a:pPr>
              <a:defRPr sz="1050">
                <a:solidFill>
                  <a:srgbClr val="F8FAFC"/>
                </a:solidFill>
              </a:defRPr>
            </a:pPr>
            <a:r>
              <a:t>✓ Real-Time Availability Radar: Active badges show referral capacity, bounty slots, and mentoring status.</a:t>
            </a:r>
          </a:p>
          <a:p>
            <a:pPr>
              <a:defRPr sz="1050">
                <a:solidFill>
                  <a:srgbClr val="F8FAFC"/>
                </a:solidFill>
              </a:defRPr>
            </a:pPr>
            <a:r>
              <a:t>✓ Zero Cold DMs &amp; Spam Banned: Mandatory code attachment; only verified dossiers reach alumni inboxes.</a:t>
            </a:r>
          </a:p>
          <a:p>
            <a:pPr>
              <a:defRPr sz="1050">
                <a:solidFill>
                  <a:srgbClr val="F8FAFC"/>
                </a:solidFill>
              </a:defRPr>
            </a:pPr>
            <a:r>
              <a:t>✓ AST Code Readiness Engine: Parses actual GitHub repo architecture, unit test ratios, and P99 latency.</a:t>
            </a:r>
          </a:p>
          <a:p>
            <a:pPr>
              <a:defRPr sz="1050">
                <a:solidFill>
                  <a:srgbClr val="F8FAFC"/>
                </a:solidFill>
              </a:defRPr>
            </a:pPr>
            <a:r>
              <a:t>✓ 1-Click ATS Referral Action: Dispatches pre-vetted dossiers directly into Workday/Greenhouse in 60s.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0611"/>
          </a:solidFill>
          <a:ln>
            <a:solidFill>
              <a:srgbClr val="030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none">
            <a:spAutoFit/>
          </a:bodyPr>
          <a:lstStyle/>
          <a:p>
            <a:pPr>
              <a:defRPr sz="1000" b="1">
                <a:solidFill>
                  <a:srgbClr val="F472B6"/>
                </a:solidFill>
              </a:defRPr>
            </a:pPr>
            <a:r>
              <a:t>ARCHITECTURE &amp; PROTOTYPE   •   06 / 07</a:t>
            </a:r>
          </a:p>
        </p:txBody>
      </p:sp>
      <p:sp>
        <p:nvSpPr>
          <p:cNvPr id="4" name="TextBox 3"/>
          <p:cNvSpPr txBox="1"/>
          <p:nvPr/>
        </p:nvSpPr>
        <p:spPr>
          <a:xfrm>
            <a:off x="731520" y="658368"/>
            <a:ext cx="10728655" cy="594360"/>
          </a:xfrm>
          <a:prstGeom prst="rect">
            <a:avLst/>
          </a:prstGeom>
          <a:noFill/>
        </p:spPr>
        <p:txBody>
          <a:bodyPr wrap="none">
            <a:spAutoFit/>
          </a:bodyPr>
          <a:lstStyle/>
          <a:p>
            <a:pPr>
              <a:defRPr sz="2200" b="1">
                <a:solidFill>
                  <a:srgbClr val="F8FAFC"/>
                </a:solidFill>
              </a:defRPr>
            </a:pPr>
            <a:r>
              <a:t>Full-Stack Technology Stack &amp; Live Engine</a:t>
            </a:r>
          </a:p>
        </p:txBody>
      </p:sp>
      <p:sp>
        <p:nvSpPr>
          <p:cNvPr id="5" name="TextBox 4"/>
          <p:cNvSpPr txBox="1"/>
          <p:nvPr/>
        </p:nvSpPr>
        <p:spPr>
          <a:xfrm>
            <a:off x="731520" y="1234440"/>
            <a:ext cx="10728655" cy="411480"/>
          </a:xfrm>
          <a:prstGeom prst="rect">
            <a:avLst/>
          </a:prstGeom>
          <a:noFill/>
        </p:spPr>
        <p:txBody>
          <a:bodyPr wrap="none">
            <a:spAutoFit/>
          </a:bodyPr>
          <a:lstStyle/>
          <a:p>
            <a:pPr>
              <a:defRPr sz="1150">
                <a:solidFill>
                  <a:srgbClr val="94A3B8"/>
                </a:solidFill>
              </a:defRPr>
            </a:pPr>
            <a:r>
              <a:t>High-performance, modular system powering 6 distinct campus portals.</a:t>
            </a:r>
          </a:p>
        </p:txBody>
      </p:sp>
      <p:sp>
        <p:nvSpPr>
          <p:cNvPr id="6" name="Rounded Rectangle 5"/>
          <p:cNvSpPr/>
          <p:nvPr/>
        </p:nvSpPr>
        <p:spPr>
          <a:xfrm>
            <a:off x="731520" y="1920240"/>
            <a:ext cx="3429000" cy="2743200"/>
          </a:xfrm>
          <a:prstGeom prst="roundRect">
            <a:avLst/>
          </a:prstGeom>
          <a:solidFill>
            <a:srgbClr val="0A1024"/>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3063240" cy="2468880"/>
          </a:xfrm>
          <a:prstGeom prst="rect">
            <a:avLst/>
          </a:prstGeom>
          <a:noFill/>
        </p:spPr>
        <p:txBody>
          <a:bodyPr wrap="square">
            <a:spAutoFit/>
          </a:bodyPr>
          <a:lstStyle/>
          <a:p>
            <a:pPr>
              <a:defRPr sz="1400" b="1">
                <a:solidFill>
                  <a:srgbClr val="38BDF8"/>
                </a:solidFill>
              </a:defRPr>
            </a:pPr>
            <a:r>
              <a:t>Frontend Client</a:t>
            </a:r>
          </a:p>
          <a:p>
            <a:pPr>
              <a:defRPr sz="1000" b="1">
                <a:solidFill>
                  <a:srgbClr val="F8FAFC"/>
                </a:solidFill>
              </a:defRPr>
            </a:pPr>
            <a:r>
              <a:t>Modern ES6+ SPA / React 19</a:t>
            </a:r>
          </a:p>
          <a:p>
            <a:pPr>
              <a:defRPr sz="950">
                <a:solidFill>
                  <a:srgbClr val="94A3B8"/>
                </a:solidFill>
              </a:defRPr>
            </a:pPr>
            <a:r>
              <a:t>• Tailwind CSS Cyber Obsidian design tokens</a:t>
            </a:r>
          </a:p>
          <a:p>
            <a:pPr>
              <a:defRPr sz="950">
                <a:solidFill>
                  <a:srgbClr val="94A3B8"/>
                </a:solidFill>
              </a:defRPr>
            </a:pPr>
            <a:r>
              <a:t>• Hardware-accelerated mesh gradients &amp; ambient orbs</a:t>
            </a:r>
          </a:p>
          <a:p>
            <a:pPr>
              <a:defRPr sz="950">
                <a:solidFill>
                  <a:srgbClr val="94A3B8"/>
                </a:solidFill>
              </a:defRPr>
            </a:pPr>
            <a:r>
              <a:t>• Lucide icons &amp; responsive RBAC interface</a:t>
            </a:r>
          </a:p>
          <a:p>
            <a:pPr>
              <a:defRPr sz="950">
                <a:solidFill>
                  <a:srgbClr val="94A3B8"/>
                </a:solidFill>
              </a:defRPr>
            </a:pPr>
            <a:r>
              <a:t>• Sub-50ms DOM updates &amp; zero bundle latency</a:t>
            </a:r>
          </a:p>
        </p:txBody>
      </p:sp>
      <p:sp>
        <p:nvSpPr>
          <p:cNvPr id="8" name="Rounded Rectangle 7"/>
          <p:cNvSpPr/>
          <p:nvPr/>
        </p:nvSpPr>
        <p:spPr>
          <a:xfrm>
            <a:off x="4343400" y="1920240"/>
            <a:ext cx="3429000" cy="2743200"/>
          </a:xfrm>
          <a:prstGeom prst="roundRect">
            <a:avLst/>
          </a:prstGeom>
          <a:solidFill>
            <a:srgbClr val="0A1024"/>
          </a:solidFill>
          <a:ln w="1270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2057400"/>
            <a:ext cx="3063240" cy="2468880"/>
          </a:xfrm>
          <a:prstGeom prst="rect">
            <a:avLst/>
          </a:prstGeom>
          <a:noFill/>
        </p:spPr>
        <p:txBody>
          <a:bodyPr wrap="square">
            <a:spAutoFit/>
          </a:bodyPr>
          <a:lstStyle/>
          <a:p>
            <a:pPr>
              <a:defRPr sz="1400" b="1">
                <a:solidFill>
                  <a:srgbClr val="C084FC"/>
                </a:solidFill>
              </a:defRPr>
            </a:pPr>
            <a:r>
              <a:t>Backend &amp; REST Core</a:t>
            </a:r>
          </a:p>
          <a:p>
            <a:pPr>
              <a:defRPr sz="1000" b="1">
                <a:solidFill>
                  <a:srgbClr val="F8FAFC"/>
                </a:solidFill>
              </a:defRPr>
            </a:pPr>
            <a:r>
              <a:t>Node.js &amp; Express REST API</a:t>
            </a:r>
          </a:p>
          <a:p>
            <a:pPr>
              <a:defRPr sz="950">
                <a:solidFill>
                  <a:srgbClr val="94A3B8"/>
                </a:solidFill>
              </a:defRPr>
            </a:pPr>
            <a:r>
              <a:t>• ES Modules architecture (Node.js v20+)</a:t>
            </a:r>
          </a:p>
          <a:p>
            <a:pPr>
              <a:defRPr sz="950">
                <a:solidFill>
                  <a:srgbClr val="94A3B8"/>
                </a:solidFill>
              </a:defRPr>
            </a:pPr>
            <a:r>
              <a:t>• Role-Based Access Control (RBAC) across 6 roles</a:t>
            </a:r>
          </a:p>
          <a:p>
            <a:pPr>
              <a:defRPr sz="950">
                <a:solidFill>
                  <a:srgbClr val="94A3B8"/>
                </a:solidFill>
              </a:defRPr>
            </a:pPr>
            <a:r>
              <a:t>• ACID-safe persistent JSON datastore (db.json)</a:t>
            </a:r>
          </a:p>
          <a:p>
            <a:pPr>
              <a:defRPr sz="950">
                <a:solidFill>
                  <a:srgbClr val="94A3B8"/>
                </a:solidFill>
              </a:defRPr>
            </a:pPr>
            <a:r>
              <a:t>• CORS &amp; high-throughput API endpoints</a:t>
            </a:r>
          </a:p>
        </p:txBody>
      </p:sp>
      <p:sp>
        <p:nvSpPr>
          <p:cNvPr id="10" name="Rounded Rectangle 9"/>
          <p:cNvSpPr/>
          <p:nvPr/>
        </p:nvSpPr>
        <p:spPr>
          <a:xfrm>
            <a:off x="7955280" y="1920240"/>
            <a:ext cx="3429000" cy="2743200"/>
          </a:xfrm>
          <a:prstGeom prst="roundRect">
            <a:avLst/>
          </a:prstGeom>
          <a:solidFill>
            <a:srgbClr val="0A1024"/>
          </a:solidFill>
          <a:ln w="12700">
            <a:solidFill>
              <a:srgbClr val="F47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2057400"/>
            <a:ext cx="3063240" cy="2468880"/>
          </a:xfrm>
          <a:prstGeom prst="rect">
            <a:avLst/>
          </a:prstGeom>
          <a:noFill/>
        </p:spPr>
        <p:txBody>
          <a:bodyPr wrap="square">
            <a:spAutoFit/>
          </a:bodyPr>
          <a:lstStyle/>
          <a:p>
            <a:pPr>
              <a:defRPr sz="1400" b="1">
                <a:solidFill>
                  <a:srgbClr val="F472B6"/>
                </a:solidFill>
              </a:defRPr>
            </a:pPr>
            <a:r>
              <a:t>AI &amp; Code Intelligence</a:t>
            </a:r>
          </a:p>
          <a:p>
            <a:pPr>
              <a:defRPr sz="1000" b="1">
                <a:solidFill>
                  <a:srgbClr val="F8FAFC"/>
                </a:solidFill>
              </a:defRPr>
            </a:pPr>
            <a:r>
              <a:t>AST Parser &amp; Gemini AI</a:t>
            </a:r>
          </a:p>
          <a:p>
            <a:pPr>
              <a:defRPr sz="950">
                <a:solidFill>
                  <a:srgbClr val="94A3B8"/>
                </a:solidFill>
              </a:defRPr>
            </a:pPr>
            <a:r>
              <a:t>• GitHub REST API v3 repo tree &amp; commit scanning</a:t>
            </a:r>
          </a:p>
          <a:p>
            <a:pPr>
              <a:defRPr sz="950">
                <a:solidFill>
                  <a:srgbClr val="94A3B8"/>
                </a:solidFill>
              </a:defRPr>
            </a:pPr>
            <a:r>
              <a:t>• AST Code Readiness evaluator (0–100 score)</a:t>
            </a:r>
          </a:p>
          <a:p>
            <a:pPr>
              <a:defRPr sz="950">
                <a:solidFill>
                  <a:srgbClr val="94A3B8"/>
                </a:solidFill>
              </a:defRPr>
            </a:pPr>
            <a:r>
              <a:t>• Google Gemini AI 60s flash dossier synthesizer</a:t>
            </a:r>
          </a:p>
          <a:p>
            <a:pPr>
              <a:defRPr sz="950">
                <a:solidFill>
                  <a:srgbClr val="94A3B8"/>
                </a:solidFill>
              </a:defRPr>
            </a:pPr>
            <a:r>
              <a:t>• Graceful fallback heuristic simulation engine</a:t>
            </a:r>
          </a:p>
        </p:txBody>
      </p:sp>
      <p:sp>
        <p:nvSpPr>
          <p:cNvPr id="12" name="Rounded Rectangle 11"/>
          <p:cNvSpPr/>
          <p:nvPr/>
        </p:nvSpPr>
        <p:spPr>
          <a:xfrm>
            <a:off x="731520" y="4846320"/>
            <a:ext cx="10728655" cy="1371600"/>
          </a:xfrm>
          <a:prstGeom prst="roundRect">
            <a:avLst/>
          </a:prstGeom>
          <a:solidFill>
            <a:srgbClr val="101A36"/>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37760"/>
            <a:ext cx="10362895" cy="1188720"/>
          </a:xfrm>
          <a:prstGeom prst="rect">
            <a:avLst/>
          </a:prstGeom>
          <a:noFill/>
        </p:spPr>
        <p:txBody>
          <a:bodyPr wrap="square">
            <a:spAutoFit/>
          </a:bodyPr>
          <a:lstStyle/>
          <a:p>
            <a:pPr>
              <a:defRPr sz="1100" b="1">
                <a:solidFill>
                  <a:srgbClr val="34D399"/>
                </a:solidFill>
              </a:defRPr>
            </a:pPr>
            <a:r>
              <a:t>LIVE SYSTEM DEMONSTRATION AT HACKSHIFT:</a:t>
            </a:r>
          </a:p>
          <a:p>
            <a:pPr>
              <a:defRPr sz="1050">
                <a:solidFill>
                  <a:srgbClr val="F8FAFC"/>
                </a:solidFill>
              </a:defRPr>
            </a:pPr>
            <a:r>
              <a:t>• Full-Stack Engine running live at http://localhost:3000</a:t>
            </a:r>
            <a:br/>
            <a:r>
              <a:t>• 6 Interactive Portals: Student, Alumnus, Founder, Faculty, Recruiter, Institution</a:t>
            </a:r>
            <a:br/>
            <a:r>
              <a:t>• Real-Time GitHub Code Scanner, Micro-Bounties Escrow, and 1-Click ATS Referral Actions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0611"/>
          </a:solidFill>
          <a:ln>
            <a:solidFill>
              <a:srgbClr val="030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none">
            <a:spAutoFit/>
          </a:bodyPr>
          <a:lstStyle/>
          <a:p>
            <a:pPr>
              <a:defRPr sz="1000" b="1">
                <a:solidFill>
                  <a:srgbClr val="F472B6"/>
                </a:solidFill>
              </a:defRPr>
            </a:pPr>
            <a:r>
              <a:t>ROADMAP &amp; IMPACT   •   07 / 07</a:t>
            </a:r>
          </a:p>
        </p:txBody>
      </p:sp>
      <p:sp>
        <p:nvSpPr>
          <p:cNvPr id="4" name="TextBox 3"/>
          <p:cNvSpPr txBox="1"/>
          <p:nvPr/>
        </p:nvSpPr>
        <p:spPr>
          <a:xfrm>
            <a:off x="731520" y="658368"/>
            <a:ext cx="10728655" cy="594360"/>
          </a:xfrm>
          <a:prstGeom prst="rect">
            <a:avLst/>
          </a:prstGeom>
          <a:noFill/>
        </p:spPr>
        <p:txBody>
          <a:bodyPr wrap="none">
            <a:spAutoFit/>
          </a:bodyPr>
          <a:lstStyle/>
          <a:p>
            <a:pPr>
              <a:defRPr sz="2200" b="1">
                <a:solidFill>
                  <a:srgbClr val="F8FAFC"/>
                </a:solidFill>
              </a:defRPr>
            </a:pPr>
            <a:r>
              <a:t>Expected MVP Benefits &amp; Future Horizon</a:t>
            </a:r>
          </a:p>
        </p:txBody>
      </p:sp>
      <p:sp>
        <p:nvSpPr>
          <p:cNvPr id="5" name="TextBox 4"/>
          <p:cNvSpPr txBox="1"/>
          <p:nvPr/>
        </p:nvSpPr>
        <p:spPr>
          <a:xfrm>
            <a:off x="731520" y="1234440"/>
            <a:ext cx="10728655" cy="411480"/>
          </a:xfrm>
          <a:prstGeom prst="rect">
            <a:avLst/>
          </a:prstGeom>
          <a:noFill/>
        </p:spPr>
        <p:txBody>
          <a:bodyPr wrap="none">
            <a:spAutoFit/>
          </a:bodyPr>
          <a:lstStyle/>
          <a:p>
            <a:pPr>
              <a:defRPr sz="1150">
                <a:solidFill>
                  <a:srgbClr val="94A3B8"/>
                </a:solidFill>
              </a:defRPr>
            </a:pPr>
            <a:r>
              <a:t>“Not just who you know, but who can help you grow. Better Connections. Better Opportunities.”</a:t>
            </a:r>
          </a:p>
        </p:txBody>
      </p:sp>
      <p:sp>
        <p:nvSpPr>
          <p:cNvPr id="6" name="Rounded Rectangle 5"/>
          <p:cNvSpPr/>
          <p:nvPr/>
        </p:nvSpPr>
        <p:spPr>
          <a:xfrm>
            <a:off x="731520" y="1920240"/>
            <a:ext cx="5257800" cy="3291840"/>
          </a:xfrm>
          <a:prstGeom prst="roundRect">
            <a:avLst/>
          </a:prstGeom>
          <a:solidFill>
            <a:srgbClr val="0A1024"/>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892040" cy="3017520"/>
          </a:xfrm>
          <a:prstGeom prst="rect">
            <a:avLst/>
          </a:prstGeom>
          <a:noFill/>
        </p:spPr>
        <p:txBody>
          <a:bodyPr wrap="square">
            <a:spAutoFit/>
          </a:bodyPr>
          <a:lstStyle/>
          <a:p>
            <a:pPr>
              <a:defRPr sz="1500" b="1">
                <a:solidFill>
                  <a:srgbClr val="38BDF8"/>
                </a:solidFill>
              </a:defRPr>
            </a:pPr>
            <a:r>
              <a:t>EXPECTED MVP BENEFITS:</a:t>
            </a:r>
          </a:p>
          <a:p>
            <a:pPr>
              <a:defRPr sz="1050">
                <a:solidFill>
                  <a:srgbClr val="94A3B8"/>
                </a:solidFill>
              </a:defRPr>
            </a:pPr>
            <a:r>
              <a:t>✓ Zero-Spam Campus Networking: Replaces unsolicited begging DMs with verified engineering proof-of-work.</a:t>
            </a:r>
          </a:p>
          <a:p>
            <a:pPr>
              <a:defRPr sz="1050">
                <a:solidFill>
                  <a:srgbClr val="94A3B8"/>
                </a:solidFill>
              </a:defRPr>
            </a:pPr>
            <a:r>
              <a:t>✓ 60-Second Referral Decisions: Saves alumni hours of resume screening while protecting their internal company reputation.</a:t>
            </a:r>
          </a:p>
          <a:p>
            <a:pPr>
              <a:defRPr sz="1050">
                <a:solidFill>
                  <a:srgbClr val="94A3B8"/>
                </a:solidFill>
              </a:defRPr>
            </a:pPr>
            <a:r>
              <a:t>✓ Direct Student Monetization: Campus builders earn real stipends solving startup micro-bounties before graduating.</a:t>
            </a:r>
          </a:p>
          <a:p>
            <a:pPr>
              <a:defRPr sz="1050">
                <a:solidFill>
                  <a:srgbClr val="94A3B8"/>
                </a:solidFill>
              </a:defRPr>
            </a:pPr>
            <a:r>
              <a:t>✓ Accreditation-Ready Telemetry: Provides college administrations with instant, audit-grade data for NAAC and NIRF.</a:t>
            </a:r>
          </a:p>
        </p:txBody>
      </p:sp>
      <p:sp>
        <p:nvSpPr>
          <p:cNvPr id="8" name="Rounded Rectangle 7"/>
          <p:cNvSpPr/>
          <p:nvPr/>
        </p:nvSpPr>
        <p:spPr>
          <a:xfrm>
            <a:off x="6217920" y="1920240"/>
            <a:ext cx="5257800" cy="3291840"/>
          </a:xfrm>
          <a:prstGeom prst="roundRect">
            <a:avLst/>
          </a:prstGeom>
          <a:solidFill>
            <a:srgbClr val="0A1024"/>
          </a:solidFill>
          <a:ln>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057400"/>
            <a:ext cx="4892040" cy="3017520"/>
          </a:xfrm>
          <a:prstGeom prst="rect">
            <a:avLst/>
          </a:prstGeom>
          <a:noFill/>
        </p:spPr>
        <p:txBody>
          <a:bodyPr wrap="square">
            <a:spAutoFit/>
          </a:bodyPr>
          <a:lstStyle/>
          <a:p>
            <a:pPr>
              <a:defRPr sz="1500" b="1">
                <a:solidFill>
                  <a:srgbClr val="C084FC"/>
                </a:solidFill>
              </a:defRPr>
            </a:pPr>
            <a:r>
              <a:t>FUTURE HORIZON &amp; SCALABILITY:</a:t>
            </a:r>
          </a:p>
          <a:p>
            <a:pPr>
              <a:defRPr sz="1050">
                <a:solidFill>
                  <a:srgbClr val="94A3B8"/>
                </a:solidFill>
              </a:defRPr>
            </a:pPr>
            <a:r>
              <a:t>🚀 AI Skill-Gap Diagnostics: Compares candidate code against corporate hiring benchmarks and auto-assigns targeted learning modules.</a:t>
            </a:r>
          </a:p>
          <a:p>
            <a:pPr>
              <a:defRPr sz="1050">
                <a:solidFill>
                  <a:srgbClr val="94A3B8"/>
                </a:solidFill>
              </a:defRPr>
            </a:pPr>
            <a:r>
              <a:t>🚀 Federated Multi-Campus Network: Interconnects university nodes across Delhi-NCR and global alumni chapters.</a:t>
            </a:r>
          </a:p>
          <a:p>
            <a:pPr>
              <a:defRPr sz="1050">
                <a:solidFill>
                  <a:srgbClr val="94A3B8"/>
                </a:solidFill>
              </a:defRPr>
            </a:pPr>
            <a:r>
              <a:t>🚀 Automated Calendar Sync: 1-click scheduling for alumni mock interviews and capstone checkpoint reviews.</a:t>
            </a:r>
          </a:p>
          <a:p>
            <a:pPr>
              <a:defRPr sz="1050">
                <a:solidFill>
                  <a:srgbClr val="94A3B8"/>
                </a:solidFill>
              </a:defRPr>
            </a:pPr>
            <a:r>
              <a:t>🚀 Smart Contract Escrow: Automated bounty payouts upon merged GitHub Pull Requests.</a:t>
            </a:r>
          </a:p>
        </p:txBody>
      </p:sp>
      <p:sp>
        <p:nvSpPr>
          <p:cNvPr id="10" name="Rounded Rectangle 9"/>
          <p:cNvSpPr/>
          <p:nvPr/>
        </p:nvSpPr>
        <p:spPr>
          <a:xfrm>
            <a:off x="731520" y="5394960"/>
            <a:ext cx="10728655" cy="914400"/>
          </a:xfrm>
          <a:prstGeom prst="roundRect">
            <a:avLst/>
          </a:prstGeom>
          <a:solidFill>
            <a:srgbClr val="101A36"/>
          </a:solidFill>
          <a:ln>
            <a:solidFill>
              <a:srgbClr val="F47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440680"/>
            <a:ext cx="10362895" cy="822960"/>
          </a:xfrm>
          <a:prstGeom prst="rect">
            <a:avLst/>
          </a:prstGeom>
          <a:noFill/>
        </p:spPr>
        <p:txBody>
          <a:bodyPr wrap="square">
            <a:spAutoFit/>
          </a:bodyPr>
          <a:lstStyle/>
          <a:p>
            <a:pPr algn="ctr">
              <a:defRPr sz="1200" b="1">
                <a:solidFill>
                  <a:srgbClr val="F8FAFC"/>
                </a:solidFill>
              </a:defRPr>
            </a:pPr>
            <a:r>
              <a:t>LinkX   •   HACKSHIFT HACKATHON   •   IIIT DELHI</a:t>
            </a:r>
          </a:p>
          <a:p>
            <a:pPr algn="ctr">
              <a:defRPr sz="1100" b="1">
                <a:solidFill>
                  <a:srgbClr val="F472B6"/>
                </a:solidFill>
              </a:defRPr>
            </a:pPr>
            <a:r>
              <a:t>Team: Dhani Varshney  |  Dipika Mourya  |  Ansh Kumar  |  Harsh Pal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